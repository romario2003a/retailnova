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082A1-1917-B6B5-41A1-639451A100E6}" v="108" dt="2026-06-30T17:54:50.078"/>
    <p1510:client id="{5796B4B5-66F6-1317-7CE0-A2E676B37A4C}" v="4" dt="2026-06-29T16:03:07.288"/>
    <p1510:client id="{7F025BF1-8328-096E-6218-DA67493A4342}" v="9" dt="2026-06-29T00:42:41.860"/>
    <p1510:client id="{9E3B7CEE-2166-25FA-AABB-36A24DABECC7}" v="82" dt="2026-06-30T17:47:37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4C94411-528A-4C3A-88DB-07345AF5614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DataFuture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A8E38F-9864-4617-9FE8-D2EEFA5CD272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98B5A7-09B4-4860-ADCC-504EA0F5E2DC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0" b="1" i="0">
                <a:solidFill>
                  <a:srgbClr val="111111"/>
                </a:solidFill>
              </a:defRPr>
            </a:pPr>
            <a:r>
              <a:rPr sz="5250" b="1" i="0">
                <a:solidFill>
                  <a:srgbClr val="111111"/>
                </a:solidFill>
              </a:rPr>
              <a:t>RetailNova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7E3A2E-AE11-40DB-A5CD-EF61FDBFECDF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 i="0">
                <a:solidFill>
                  <a:srgbClr val="555555"/>
                </a:solidFill>
              </a:defRPr>
            </a:pPr>
            <a:r>
              <a:rPr sz="1950" b="0" i="0">
                <a:solidFill>
                  <a:srgbClr val="555555"/>
                </a:solidFill>
              </a:rPr>
              <a:t>Proyecto final de Base de Datos 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05613D-2BC3-4187-8A97-78B596663745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SQL Server + MongoDB + ETL + DWH + Power BI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24F9C78-C975-4E6F-8E8B-9BC873710D88}"/>
              </a:ext>
            </a:extLst>
          </p:cNvPr>
          <p:cNvSpPr>
            <a:spLocks noGrp="1"/>
          </p:cNvSpPr>
          <p:nvPr/>
        </p:nvSpPr>
        <p:spPr>
          <a:xfrm>
            <a:off x="8191500" y="2000250"/>
            <a:ext cx="266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 i="0">
                <a:solidFill>
                  <a:srgbClr val="0B2545"/>
                </a:solidFill>
              </a:defRPr>
            </a:pPr>
            <a:endParaRPr lang="es-ES" sz="2250" b="1" i="0">
              <a:solidFill>
                <a:srgbClr val="0B2545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BC52487-9901-48C1-A5BB-84A14C5C5FC3}"/>
              </a:ext>
            </a:extLst>
          </p:cNvPr>
          <p:cNvSpPr>
            <a:spLocks noGrp="1"/>
          </p:cNvSpPr>
          <p:nvPr/>
        </p:nvSpPr>
        <p:spPr>
          <a:xfrm>
            <a:off x="406400" y="5041900"/>
            <a:ext cx="3363686" cy="1473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 b="0" i="0">
                <a:solidFill>
                  <a:srgbClr val="555555"/>
                </a:solidFill>
              </a:defRPr>
            </a:pPr>
            <a:r>
              <a:rPr b="1" i="0" err="1">
                <a:solidFill>
                  <a:srgbClr val="555555"/>
                </a:solidFill>
              </a:rPr>
              <a:t>Integrantes</a:t>
            </a:r>
            <a:r>
              <a:rPr b="1" i="0">
                <a:solidFill>
                  <a:srgbClr val="555555"/>
                </a:solidFill>
              </a:rPr>
              <a:t>: Romario Quispe </a:t>
            </a:r>
            <a:endParaRPr lang="es-ES" b="1"/>
          </a:p>
          <a:p>
            <a:pPr>
              <a:defRPr sz="1350" b="0" i="0">
                <a:solidFill>
                  <a:srgbClr val="555555"/>
                </a:solidFill>
              </a:defRPr>
            </a:pPr>
            <a:r>
              <a:rPr b="1" i="0">
                <a:solidFill>
                  <a:srgbClr val="555555"/>
                </a:solidFill>
              </a:rPr>
              <a:t>Paolo Medina </a:t>
            </a:r>
            <a:endParaRPr lang="es-ES" b="1">
              <a:solidFill>
                <a:srgbClr val="555555"/>
              </a:solidFill>
            </a:endParaRPr>
          </a:p>
          <a:p>
            <a:pPr>
              <a:defRPr sz="1350" b="0" i="0">
                <a:solidFill>
                  <a:srgbClr val="555555"/>
                </a:solidFill>
              </a:defRPr>
            </a:pPr>
            <a:r>
              <a:rPr b="1" i="0">
                <a:solidFill>
                  <a:srgbClr val="555555"/>
                </a:solidFill>
              </a:rPr>
              <a:t>Daniel Ortecho </a:t>
            </a:r>
            <a:endParaRPr lang="es-ES" b="1">
              <a:solidFill>
                <a:srgbClr val="555555"/>
              </a:solidFill>
            </a:endParaRPr>
          </a:p>
          <a:p>
            <a:pPr>
              <a:defRPr sz="1350" b="0" i="0">
                <a:solidFill>
                  <a:srgbClr val="555555"/>
                </a:solidFill>
              </a:defRPr>
            </a:pPr>
            <a:r>
              <a:rPr b="1" i="0">
                <a:solidFill>
                  <a:srgbClr val="555555"/>
                </a:solidFill>
              </a:rPr>
              <a:t>David Puma </a:t>
            </a:r>
            <a:endParaRPr lang="es-ES" b="1">
              <a:solidFill>
                <a:srgbClr val="555555"/>
              </a:solidFill>
            </a:endParaRPr>
          </a:p>
          <a:p>
            <a:pPr algn="l">
              <a:defRPr sz="1350" b="0" i="0">
                <a:solidFill>
                  <a:srgbClr val="555555"/>
                </a:solidFill>
              </a:defRPr>
            </a:pPr>
            <a:r>
              <a:rPr b="1" i="0">
                <a:solidFill>
                  <a:srgbClr val="555555"/>
                </a:solidFill>
              </a:rPr>
              <a:t>David Chambi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90674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E8A8E60-CD8E-4E7E-A73B-D6CC005E647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984CA8F-1CC1-49FF-B9CF-5D343945914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F73395-F06D-4C1F-8908-B10B5DD0A5A3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Ruta de la exposición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77F4DD-FFCA-455B-A9BA-CD31DE1840DB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Cada integrante cubre una parte de la rúbrica con evidencia concreta.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AA8382-1844-4870-899B-EE0D6F20722A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7239000" cy="495300"/>
          </a:xfrm>
          <a:prstGeom prst="rect">
            <a:avLst/>
          </a:prstGeom>
          <a:solidFill>
            <a:srgbClr val="EFEFE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526C55-7B81-4E58-AC9B-6DB5325FFBC4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0B2545"/>
                </a:solidFill>
              </a:defRPr>
            </a:pPr>
            <a:r>
              <a:rPr sz="1350" b="1" i="0">
                <a:solidFill>
                  <a:srgbClr val="0B2545"/>
                </a:solidFill>
              </a:rPr>
              <a:t>Integrante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F42535-D43A-4ACB-B573-898087EB3CD2}"/>
              </a:ext>
            </a:extLst>
          </p:cNvPr>
          <p:cNvSpPr>
            <a:spLocks noGrp="1"/>
          </p:cNvSpPr>
          <p:nvPr/>
        </p:nvSpPr>
        <p:spPr>
          <a:xfrm>
            <a:off x="3230880" y="23050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0B2545"/>
                </a:solidFill>
              </a:defRPr>
            </a:pPr>
            <a:r>
              <a:rPr sz="1350" b="1" i="0">
                <a:solidFill>
                  <a:srgbClr val="0B2545"/>
                </a:solidFill>
              </a:rPr>
              <a:t>Parte que expone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DF564D-FB90-4BBF-B854-866B2F34A28E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723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D96D93-ADBB-45F2-AA79-65F9D0B50C58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Romario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29ECD7-FE55-454B-B5FD-9515F5B0BAC3}"/>
              </a:ext>
            </a:extLst>
          </p:cNvPr>
          <p:cNvSpPr>
            <a:spLocks noGrp="1"/>
          </p:cNvSpPr>
          <p:nvPr/>
        </p:nvSpPr>
        <p:spPr>
          <a:xfrm>
            <a:off x="3230880" y="28003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Caso, arquitectura y modelo OLTP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F672429-86C5-4603-9E93-518F6B09E7AA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723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5324B7-F77D-44BB-988E-E41886DFC84D}"/>
              </a:ext>
            </a:extLst>
          </p:cNvPr>
          <p:cNvSpPr>
            <a:spLocks noGrp="1"/>
          </p:cNvSpPr>
          <p:nvPr/>
        </p:nvSpPr>
        <p:spPr>
          <a:xfrm>
            <a:off x="1066800" y="32956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Paolo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45878A-96B2-4180-9FD8-27C913711C92}"/>
              </a:ext>
            </a:extLst>
          </p:cNvPr>
          <p:cNvSpPr>
            <a:spLocks noGrp="1"/>
          </p:cNvSpPr>
          <p:nvPr/>
        </p:nvSpPr>
        <p:spPr>
          <a:xfrm>
            <a:off x="3230880" y="32956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Optimización, índices y monitoreo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A1B0F48-4B3E-4727-94BD-DF906AC64787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723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5D94F30-939A-48D5-BE03-D88911EB67CA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Daniel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65F41DD-5B22-4812-8F68-C983ED700F0B}"/>
              </a:ext>
            </a:extLst>
          </p:cNvPr>
          <p:cNvSpPr>
            <a:spLocks noGrp="1"/>
          </p:cNvSpPr>
          <p:nvPr/>
        </p:nvSpPr>
        <p:spPr>
          <a:xfrm>
            <a:off x="3230880" y="37909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Seguridad, permisos, RLS y auditoría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D67289D-21F2-404E-8A3B-ECF30CC7E838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723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2A0956-E6BD-4C05-9BEE-DF957D07838A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David Puma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9BC1500-867D-4E67-A111-340A58A8140F}"/>
              </a:ext>
            </a:extLst>
          </p:cNvPr>
          <p:cNvSpPr>
            <a:spLocks noGrp="1"/>
          </p:cNvSpPr>
          <p:nvPr/>
        </p:nvSpPr>
        <p:spPr>
          <a:xfrm>
            <a:off x="3230880" y="42862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MongoDB y eventos digitales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FD0FCAF-D255-448C-ACEC-5468FA46E24C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239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6C5D54C-9BBE-4D3F-B882-EC47376BA202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20269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David Chambi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11D79BF-D55E-45D5-BCDC-FB55B7D107DC}"/>
              </a:ext>
            </a:extLst>
          </p:cNvPr>
          <p:cNvSpPr>
            <a:spLocks noGrp="1"/>
          </p:cNvSpPr>
          <p:nvPr/>
        </p:nvSpPr>
        <p:spPr>
          <a:xfrm>
            <a:off x="3230880" y="4781550"/>
            <a:ext cx="4632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DWH, ETL, Power BI y cierre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F0A257D-38D0-4534-BDB4-2C2754B1AF7B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3812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DB6419C-3999-4CF2-B836-8DD1BF0780A7}"/>
              </a:ext>
            </a:extLst>
          </p:cNvPr>
          <p:cNvSpPr>
            <a:spLocks noGrp="1"/>
          </p:cNvSpPr>
          <p:nvPr/>
        </p:nvSpPr>
        <p:spPr>
          <a:xfrm>
            <a:off x="91059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Objetivo de defensa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4050300-1EE7-4223-85A7-196F4A7204B3}"/>
              </a:ext>
            </a:extLst>
          </p:cNvPr>
          <p:cNvSpPr>
            <a:spLocks noGrp="1"/>
          </p:cNvSpPr>
          <p:nvPr/>
        </p:nvSpPr>
        <p:spPr>
          <a:xfrm>
            <a:off x="9105900" y="3009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F86AFAE-9229-467C-B4FB-E3DCC57109BC}"/>
              </a:ext>
            </a:extLst>
          </p:cNvPr>
          <p:cNvSpPr>
            <a:spLocks noGrp="1"/>
          </p:cNvSpPr>
          <p:nvPr/>
        </p:nvSpPr>
        <p:spPr>
          <a:xfrm>
            <a:off x="9391650" y="30099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Mostrar evidencia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E688C3D-586D-4F1A-AFBB-B9B659E92ABA}"/>
              </a:ext>
            </a:extLst>
          </p:cNvPr>
          <p:cNvSpPr>
            <a:spLocks noGrp="1"/>
          </p:cNvSpPr>
          <p:nvPr/>
        </p:nvSpPr>
        <p:spPr>
          <a:xfrm>
            <a:off x="9105900" y="35623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3F10FD1-639C-4D7B-958C-0E3F48629CCB}"/>
              </a:ext>
            </a:extLst>
          </p:cNvPr>
          <p:cNvSpPr>
            <a:spLocks noGrp="1"/>
          </p:cNvSpPr>
          <p:nvPr/>
        </p:nvSpPr>
        <p:spPr>
          <a:xfrm>
            <a:off x="9391650" y="35623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Explicar código clave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9747DB8-4AA7-45D9-A78F-38C4AC4DAEE1}"/>
              </a:ext>
            </a:extLst>
          </p:cNvPr>
          <p:cNvSpPr>
            <a:spLocks noGrp="1"/>
          </p:cNvSpPr>
          <p:nvPr/>
        </p:nvSpPr>
        <p:spPr>
          <a:xfrm>
            <a:off x="9105900" y="4114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6B35"/>
                </a:solidFill>
              </a:defRPr>
            </a:pPr>
            <a:r>
              <a:rPr sz="13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6C76D29-2B2F-48D5-BE5D-87DE04215CCC}"/>
              </a:ext>
            </a:extLst>
          </p:cNvPr>
          <p:cNvSpPr>
            <a:spLocks noGrp="1"/>
          </p:cNvSpPr>
          <p:nvPr/>
        </p:nvSpPr>
        <p:spPr>
          <a:xfrm>
            <a:off x="9391650" y="41148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Conectar con valor de negocio</a:t>
            </a:r>
          </a:p>
        </p:txBody>
      </p:sp>
    </p:spTree>
    <p:extLst>
      <p:ext uri="{BB962C8B-B14F-4D97-AF65-F5344CB8AC3E}">
        <p14:creationId xmlns:p14="http://schemas.microsoft.com/office/powerpoint/2010/main" val="160204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37C5E98-BED8-4020-8AD5-BA341DA758B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D04DA3-C57F-4D08-AB6E-31F064293D2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A48352-7910-494A-A518-7DAC04587B1F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Problema y propuesta de valor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805F28-D976-414D-8BCB-AE07A57568D9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RetailNova necesita unir ventas, campañas y eventos digitales.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D41185-0B0C-49CD-A0D0-F4AE9AC61038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Romario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340EAD-F59B-45C0-9614-B919EA4252B4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4D6BE86-E5E2-45E0-BDEB-F9C91F99785A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Ventas distribuidas en Web, App y Tienda.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43D1F-524E-4174-A01D-77711B58EEEA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5884B4-CAF9-4444-99BD-80A79BA896D9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Eventos digitales no encajan bien en tablas rígidas.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FF5EC6-B39A-4F03-B18D-4AEA4B79367E}"/>
              </a:ext>
            </a:extLst>
          </p:cNvPr>
          <p:cNvSpPr>
            <a:spLocks noGrp="1"/>
          </p:cNvSpPr>
          <p:nvPr/>
        </p:nvSpPr>
        <p:spPr>
          <a:xfrm>
            <a:off x="628650" y="33528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49414B-150A-4C73-9B1D-1F26EBCB44C1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La gerencia necesita indicadores rápidos: ventas, margen, ticket y conversión.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C9E275-F02B-4175-ABC5-8AF571A238BF}"/>
              </a:ext>
            </a:extLst>
          </p:cNvPr>
          <p:cNvSpPr>
            <a:spLocks noGrp="1"/>
          </p:cNvSpPr>
          <p:nvPr/>
        </p:nvSpPr>
        <p:spPr>
          <a:xfrm>
            <a:off x="628650" y="39052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4A4D7F6-77F5-4C94-8782-1E0D3A0D3CAC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La solución integra OLTP, NoSQL, ETL, DWH y Power BI.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8A72A5-7F0C-4620-9527-3EB56F0909CB}"/>
              </a:ext>
            </a:extLst>
          </p:cNvPr>
          <p:cNvSpPr>
            <a:spLocks noGrp="1"/>
          </p:cNvSpPr>
          <p:nvPr/>
        </p:nvSpPr>
        <p:spPr>
          <a:xfrm>
            <a:off x="7143750" y="219075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96585DD-A1BF-445D-AA07-CC92E5CB0A93}"/>
              </a:ext>
            </a:extLst>
          </p:cNvPr>
          <p:cNvSpPr>
            <a:spLocks noGrp="1"/>
          </p:cNvSpPr>
          <p:nvPr/>
        </p:nvSpPr>
        <p:spPr>
          <a:xfrm>
            <a:off x="7315200" y="23622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120K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900794E-1D65-4C7E-A51D-F8966974D2AD}"/>
              </a:ext>
            </a:extLst>
          </p:cNvPr>
          <p:cNvSpPr>
            <a:spLocks noGrp="1"/>
          </p:cNvSpPr>
          <p:nvPr/>
        </p:nvSpPr>
        <p:spPr>
          <a:xfrm>
            <a:off x="7315200" y="28384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pedidos OLTP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605953-C018-4D64-80B6-48C1DB121528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EE82805-F734-4519-9EE8-1053BF7668F1}"/>
              </a:ext>
            </a:extLst>
          </p:cNvPr>
          <p:cNvSpPr>
            <a:spLocks noGrp="1"/>
          </p:cNvSpPr>
          <p:nvPr/>
        </p:nvSpPr>
        <p:spPr>
          <a:xfrm>
            <a:off x="9791700" y="23622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25K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3966ACF-C37F-4E63-988B-C4DCCD663DF6}"/>
              </a:ext>
            </a:extLst>
          </p:cNvPr>
          <p:cNvSpPr>
            <a:spLocks noGrp="1"/>
          </p:cNvSpPr>
          <p:nvPr/>
        </p:nvSpPr>
        <p:spPr>
          <a:xfrm>
            <a:off x="9791700" y="28384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eventos MongoDB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6E9D0B9-13AE-403E-B21A-6EA7D323B2BD}"/>
              </a:ext>
            </a:extLst>
          </p:cNvPr>
          <p:cNvSpPr>
            <a:spLocks noGrp="1"/>
          </p:cNvSpPr>
          <p:nvPr/>
        </p:nvSpPr>
        <p:spPr>
          <a:xfrm>
            <a:off x="7143750" y="36195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759EDA9-ADBC-4746-A45D-9FE4C2B32B5C}"/>
              </a:ext>
            </a:extLst>
          </p:cNvPr>
          <p:cNvSpPr>
            <a:spLocks noGrp="1"/>
          </p:cNvSpPr>
          <p:nvPr/>
        </p:nvSpPr>
        <p:spPr>
          <a:xfrm>
            <a:off x="7315200" y="37909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227K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199F8A3-E086-4851-9515-5FD23493B170}"/>
              </a:ext>
            </a:extLst>
          </p:cNvPr>
          <p:cNvSpPr>
            <a:spLocks noGrp="1"/>
          </p:cNvSpPr>
          <p:nvPr/>
        </p:nvSpPr>
        <p:spPr>
          <a:xfrm>
            <a:off x="7315200" y="42672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ventas en DWH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0977BBA-0365-4082-B74B-346062901EA1}"/>
              </a:ext>
            </a:extLst>
          </p:cNvPr>
          <p:cNvSpPr>
            <a:spLocks noGrp="1"/>
          </p:cNvSpPr>
          <p:nvPr/>
        </p:nvSpPr>
        <p:spPr>
          <a:xfrm>
            <a:off x="9620250" y="36195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AD88457-BCFC-4C96-A9AC-ADC9F1102280}"/>
              </a:ext>
            </a:extLst>
          </p:cNvPr>
          <p:cNvSpPr>
            <a:spLocks noGrp="1"/>
          </p:cNvSpPr>
          <p:nvPr/>
        </p:nvSpPr>
        <p:spPr>
          <a:xfrm>
            <a:off x="9791700" y="37909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PBIX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594F490-7743-47A2-9E9D-4A5EB53F3A15}"/>
              </a:ext>
            </a:extLst>
          </p:cNvPr>
          <p:cNvSpPr>
            <a:spLocks noGrp="1"/>
          </p:cNvSpPr>
          <p:nvPr/>
        </p:nvSpPr>
        <p:spPr>
          <a:xfrm>
            <a:off x="9791700" y="426720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dashboard final</a:t>
            </a:r>
          </a:p>
        </p:txBody>
      </p:sp>
    </p:spTree>
    <p:extLst>
      <p:ext uri="{BB962C8B-B14F-4D97-AF65-F5344CB8AC3E}">
        <p14:creationId xmlns:p14="http://schemas.microsoft.com/office/powerpoint/2010/main" val="185687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A4A0444B-0F7E-47ED-8881-7E44955DBE8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2681E60-E30C-49F4-BCB0-7451614B031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6DB47F-E460-4697-81CC-13F2472C1273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Arquitectura implementada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7CDC55-499E-47A3-8120-F3E9C8CAB33E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Flujo de datos desde operación hasta inteligencia de negocio.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77F92F-CB4E-4586-8160-3185E40BC3F9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Romario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45F760-858D-488C-908C-12CA27C9B9E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143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29262A-FF67-44ED-AD34-9CF6F50A052D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B2545"/>
                </a:solidFill>
              </a:defRPr>
            </a:pPr>
            <a:r>
              <a:rPr sz="1725" b="1" i="0">
                <a:solidFill>
                  <a:srgbClr val="0B2545"/>
                </a:solidFill>
              </a:rPr>
              <a:t>SQL Server OLTP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D01E9A-0891-4485-B595-3E6C120B6503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Clientes, productos, pedidos, pagos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C22007-1459-47B5-BAF3-7630537440E3}"/>
              </a:ext>
            </a:extLst>
          </p:cNvPr>
          <p:cNvSpPr>
            <a:spLocks noGrp="1"/>
          </p:cNvSpPr>
          <p:nvPr/>
        </p:nvSpPr>
        <p:spPr>
          <a:xfrm>
            <a:off x="4400550" y="2095500"/>
            <a:ext cx="3143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259797-303E-432C-A109-AB489BD3ED73}"/>
              </a:ext>
            </a:extLst>
          </p:cNvPr>
          <p:cNvSpPr>
            <a:spLocks noGrp="1"/>
          </p:cNvSpPr>
          <p:nvPr/>
        </p:nvSpPr>
        <p:spPr>
          <a:xfrm>
            <a:off x="459105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B2545"/>
                </a:solidFill>
              </a:defRPr>
            </a:pPr>
            <a:r>
              <a:rPr sz="1725" b="1" i="0">
                <a:solidFill>
                  <a:srgbClr val="0B2545"/>
                </a:solidFill>
              </a:rPr>
              <a:t>MongoDB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7BFE9B2-75EB-4F85-B11F-A54EE19699BE}"/>
              </a:ext>
            </a:extLst>
          </p:cNvPr>
          <p:cNvSpPr>
            <a:spLocks noGrp="1"/>
          </p:cNvSpPr>
          <p:nvPr/>
        </p:nvSpPr>
        <p:spPr>
          <a:xfrm>
            <a:off x="4591050" y="2647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Eventos web/app anidados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1DB2044-292B-4D24-A767-FF10E13BE968}"/>
              </a:ext>
            </a:extLst>
          </p:cNvPr>
          <p:cNvSpPr>
            <a:spLocks noGrp="1"/>
          </p:cNvSpPr>
          <p:nvPr/>
        </p:nvSpPr>
        <p:spPr>
          <a:xfrm>
            <a:off x="8115300" y="2095500"/>
            <a:ext cx="3143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817F1B-6869-4FD9-8BA9-174BC710B4C2}"/>
              </a:ext>
            </a:extLst>
          </p:cNvPr>
          <p:cNvSpPr>
            <a:spLocks noGrp="1"/>
          </p:cNvSpPr>
          <p:nvPr/>
        </p:nvSpPr>
        <p:spPr>
          <a:xfrm>
            <a:off x="830580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B2545"/>
                </a:solidFill>
              </a:defRPr>
            </a:pPr>
            <a:r>
              <a:rPr sz="1725" b="1" i="0">
                <a:solidFill>
                  <a:srgbClr val="0B2545"/>
                </a:solidFill>
              </a:rPr>
              <a:t>CSV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56DCB51-CB72-4C1C-83BA-64861781EB54}"/>
              </a:ext>
            </a:extLst>
          </p:cNvPr>
          <p:cNvSpPr>
            <a:spLocks noGrp="1"/>
          </p:cNvSpPr>
          <p:nvPr/>
        </p:nvSpPr>
        <p:spPr>
          <a:xfrm>
            <a:off x="8305800" y="26479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Campañas de marketing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CE3476-F24F-4FF7-99C2-D5C640A0893E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143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6D3261A-9DED-47FA-A6FA-431A6590AB04}"/>
              </a:ext>
            </a:extLst>
          </p:cNvPr>
          <p:cNvSpPr>
            <a:spLocks noGrp="1"/>
          </p:cNvSpPr>
          <p:nvPr/>
        </p:nvSpPr>
        <p:spPr>
          <a:xfrm>
            <a:off x="876300" y="39338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B2545"/>
                </a:solidFill>
              </a:defRPr>
            </a:pPr>
            <a:r>
              <a:rPr sz="1725" b="1" i="0">
                <a:solidFill>
                  <a:srgbClr val="0B2545"/>
                </a:solidFill>
              </a:rPr>
              <a:t>ETL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2CA63C5-0D19-4C7A-A035-626DB91BF702}"/>
              </a:ext>
            </a:extLst>
          </p:cNvPr>
          <p:cNvSpPr>
            <a:spLocks noGrp="1"/>
          </p:cNvSpPr>
          <p:nvPr/>
        </p:nvSpPr>
        <p:spPr>
          <a:xfrm>
            <a:off x="876300" y="43148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Limpieza e integración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55F83C2-2471-46F9-A93E-87377282CAB3}"/>
              </a:ext>
            </a:extLst>
          </p:cNvPr>
          <p:cNvSpPr>
            <a:spLocks noGrp="1"/>
          </p:cNvSpPr>
          <p:nvPr/>
        </p:nvSpPr>
        <p:spPr>
          <a:xfrm>
            <a:off x="4400550" y="3762375"/>
            <a:ext cx="3143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A2F2BA9-6BEA-4ABC-B3DC-762589DC7720}"/>
              </a:ext>
            </a:extLst>
          </p:cNvPr>
          <p:cNvSpPr>
            <a:spLocks noGrp="1"/>
          </p:cNvSpPr>
          <p:nvPr/>
        </p:nvSpPr>
        <p:spPr>
          <a:xfrm>
            <a:off x="4591050" y="39338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0B2545"/>
                </a:solidFill>
              </a:defRPr>
            </a:pPr>
            <a:r>
              <a:rPr sz="1725" b="1" i="0">
                <a:solidFill>
                  <a:srgbClr val="0B2545"/>
                </a:solidFill>
              </a:rPr>
              <a:t>DWH SQL Server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8CD5E3D-3071-4D6C-AFDA-5F172636AE56}"/>
              </a:ext>
            </a:extLst>
          </p:cNvPr>
          <p:cNvSpPr>
            <a:spLocks noGrp="1"/>
          </p:cNvSpPr>
          <p:nvPr/>
        </p:nvSpPr>
        <p:spPr>
          <a:xfrm>
            <a:off x="4591050" y="43148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Modelo dimensional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4F5E035-EF1A-4B98-BE3B-DB2574DEE3A8}"/>
              </a:ext>
            </a:extLst>
          </p:cNvPr>
          <p:cNvSpPr>
            <a:spLocks noGrp="1"/>
          </p:cNvSpPr>
          <p:nvPr/>
        </p:nvSpPr>
        <p:spPr>
          <a:xfrm>
            <a:off x="8115300" y="3762375"/>
            <a:ext cx="3143250" cy="1066800"/>
          </a:xfrm>
          <a:prstGeom prst="rect">
            <a:avLst/>
          </a:prstGeom>
          <a:solidFill>
            <a:srgbClr val="FFF2E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7106106-513D-4AB1-9B66-34612D9A601E}"/>
              </a:ext>
            </a:extLst>
          </p:cNvPr>
          <p:cNvSpPr>
            <a:spLocks noGrp="1"/>
          </p:cNvSpPr>
          <p:nvPr/>
        </p:nvSpPr>
        <p:spPr>
          <a:xfrm>
            <a:off x="8305800" y="39338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FF6B35"/>
                </a:solidFill>
              </a:defRPr>
            </a:pPr>
            <a:r>
              <a:rPr sz="1725" b="1" i="0">
                <a:solidFill>
                  <a:srgbClr val="FF6B35"/>
                </a:solidFill>
              </a:rPr>
              <a:t>Power BI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9E8011C-DE0F-4DBA-92E0-E9B67615C0A8}"/>
              </a:ext>
            </a:extLst>
          </p:cNvPr>
          <p:cNvSpPr>
            <a:spLocks noGrp="1"/>
          </p:cNvSpPr>
          <p:nvPr/>
        </p:nvSpPr>
        <p:spPr>
          <a:xfrm>
            <a:off x="8305800" y="43148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Dashboard ejecutivo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5044FF6-FD36-4F96-AD9E-4235243CC03E}"/>
              </a:ext>
            </a:extLst>
          </p:cNvPr>
          <p:cNvSpPr>
            <a:spLocks noGrp="1"/>
          </p:cNvSpPr>
          <p:nvPr/>
        </p:nvSpPr>
        <p:spPr>
          <a:xfrm>
            <a:off x="1619250" y="55626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OLTP + NoSQL + CSV  →  ETL  →  DWH  →  BI</a:t>
            </a:r>
          </a:p>
        </p:txBody>
      </p:sp>
    </p:spTree>
    <p:extLst>
      <p:ext uri="{BB962C8B-B14F-4D97-AF65-F5344CB8AC3E}">
        <p14:creationId xmlns:p14="http://schemas.microsoft.com/office/powerpoint/2010/main" val="198328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051DAE-66C0-4502-9B03-2A712320133A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DA2566-2DC8-4048-A655-8C47A2AA4D5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CEDC442-BE88-401B-A42D-241C16114FE3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Modelo OLTP en SQL Server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BA5091-33EE-4A34-B8D6-A30E91D3E5D6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La base transaccional registra ventas reales con integridad referencial.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6DF0DA-4452-4ADE-BE21-43257AEAF46D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Romario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324A65-EF8E-4CF5-B02B-FEB6566533B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66871" cy="266155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0C5CA2-29CD-476D-A246-219AF7057522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4800600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CREATE TABLE dbo.Pedidos (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pedido_id BIGINT IDENTITY PRIMARY KEY,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cliente_id INT NOT NULL REFERENCES dbo.Clientes,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tienda_id INT NOT NULL REFERENCES dbo.Tiendas,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fecha_pedido DATETIME2 NOT NULL,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estado VARCHAR(20) CHECK (...),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monto_total DECIMAL(14,2) NOT NULL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);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9292" y="1192893"/>
            <a:ext cx="4436987" cy="498928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CF7AB7C-3F94-44AA-A950-C44DFE8750D6}"/>
              </a:ext>
            </a:extLst>
          </p:cNvPr>
          <p:cNvSpPr>
            <a:spLocks noGrp="1"/>
          </p:cNvSpPr>
          <p:nvPr/>
        </p:nvSpPr>
        <p:spPr>
          <a:xfrm>
            <a:off x="6917871" y="6476093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>
                <a:solidFill>
                  <a:srgbClr val="555555"/>
                </a:solidFill>
              </a:rPr>
              <a:t>Evidencia: tablas OLTP creadas en español.</a:t>
            </a:r>
          </a:p>
        </p:txBody>
      </p:sp>
    </p:spTree>
    <p:extLst>
      <p:ext uri="{BB962C8B-B14F-4D97-AF65-F5344CB8AC3E}">
        <p14:creationId xmlns:p14="http://schemas.microsoft.com/office/powerpoint/2010/main" val="196620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EBCB8C6-B5AD-4E81-9527-E73C73ADE82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2F0577-7A8B-4610-9F36-7710258679C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B69E288-8A7D-42A0-9E54-D3F9B75CB853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Volumen y relaciones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205B06-6DEA-4045-A931-66628FBC77EB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El modelo no solo existe: contiene datos suficientes para medir rendimiento.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043753-DC1C-4CA1-A13E-142C7A3D0963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Romario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9694" y="2131786"/>
            <a:ext cx="4884768" cy="3939721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637068" y="2139951"/>
            <a:ext cx="6142099" cy="393972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C85AC84-E9DB-4A45-B2A8-6FF50B30D806}"/>
              </a:ext>
            </a:extLst>
          </p:cNvPr>
          <p:cNvSpPr>
            <a:spLocks noGrp="1"/>
          </p:cNvSpPr>
          <p:nvPr/>
        </p:nvSpPr>
        <p:spPr>
          <a:xfrm>
            <a:off x="1644650" y="6485164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>
                <a:solidFill>
                  <a:srgbClr val="555555"/>
                </a:solidFill>
              </a:rPr>
              <a:t>12000 clientes, 120000 pedidos, 240000 detalles y JOIN entre pedidos, clientes, tiendas y productos.</a:t>
            </a:r>
          </a:p>
        </p:txBody>
      </p:sp>
    </p:spTree>
    <p:extLst>
      <p:ext uri="{BB962C8B-B14F-4D97-AF65-F5344CB8AC3E}">
        <p14:creationId xmlns:p14="http://schemas.microsoft.com/office/powerpoint/2010/main" val="209289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E1586D5-1C15-481C-9E51-06E34348F41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7A9375-6F7B-4053-9E0C-1461D33D139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09BFF5-1E7D-4169-867C-82B3A281CFE4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Optimización: antes y después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A9B75D8-0AA4-4333-892A-CDD514A4AC22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La consulta se volvió SARGable para aprovechar mejor el índice.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77EC02-2736-4213-9AA3-6698EAC3F804}"/>
              </a:ext>
            </a:extLst>
          </p:cNvPr>
          <p:cNvSpPr>
            <a:spLocks noGrp="1"/>
          </p:cNvSpPr>
          <p:nvPr/>
        </p:nvSpPr>
        <p:spPr>
          <a:xfrm>
            <a:off x="8858250" y="633186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Paolo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251E3B-2BF0-43F2-9085-68CEAD5D2BA8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4476750" cy="23812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99E0DB8-16F8-4FA0-8E75-2FFAD848C32E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1338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4F4"/>
                </a:solidFill>
              </a:defRPr>
            </a:pPr>
            <a:r>
              <a:rPr sz="1575" b="0" i="0">
                <a:solidFill>
                  <a:srgbClr val="F4F4F4"/>
                </a:solidFill>
              </a:rPr>
              <a:t>-- Antes</a:t>
            </a:r>
          </a:p>
          <a:p>
            <a:pPr algn="l">
              <a:defRPr sz="1575" b="0" i="0">
                <a:solidFill>
                  <a:srgbClr val="F4F4F4"/>
                </a:solidFill>
              </a:defRPr>
            </a:pPr>
            <a:r>
              <a:rPr sz="1575" b="0" i="0">
                <a:solidFill>
                  <a:srgbClr val="F4F4F4"/>
                </a:solidFill>
              </a:rPr>
              <a:t>WHERE YEAR(fecha_pedido) = 2026;</a:t>
            </a:r>
          </a:p>
          <a:p>
            <a:endParaRPr sz="1575" b="0" i="0">
              <a:solidFill>
                <a:srgbClr val="F4F4F4"/>
              </a:solidFill>
            </a:endParaRPr>
          </a:p>
          <a:p>
            <a:pPr algn="l">
              <a:defRPr sz="1575" b="0" i="0">
                <a:solidFill>
                  <a:srgbClr val="F4F4F4"/>
                </a:solidFill>
              </a:defRPr>
            </a:pPr>
            <a:r>
              <a:rPr sz="1575" b="0" i="0">
                <a:solidFill>
                  <a:srgbClr val="F4F4F4"/>
                </a:solidFill>
              </a:rPr>
              <a:t>-- Después</a:t>
            </a:r>
          </a:p>
          <a:p>
            <a:pPr algn="l">
              <a:defRPr sz="1575" b="0" i="0">
                <a:solidFill>
                  <a:srgbClr val="F4F4F4"/>
                </a:solidFill>
              </a:defRPr>
            </a:pPr>
            <a:r>
              <a:rPr sz="1575" b="0" i="0">
                <a:solidFill>
                  <a:srgbClr val="F4F4F4"/>
                </a:solidFill>
              </a:rPr>
              <a:t>WHERE fecha_pedido &gt;= '20260101'</a:t>
            </a:r>
          </a:p>
          <a:p>
            <a:pPr algn="l">
              <a:defRPr sz="1575" b="0" i="0">
                <a:solidFill>
                  <a:srgbClr val="F4F4F4"/>
                </a:solidFill>
              </a:defRPr>
            </a:pPr>
            <a:r>
              <a:rPr sz="1575" b="0" i="0">
                <a:solidFill>
                  <a:srgbClr val="F4F4F4"/>
                </a:solidFill>
              </a:rPr>
              <a:t>  AND fecha_pedido &lt;  '20270101';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18929" y="1007836"/>
            <a:ext cx="4017006" cy="5434692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61490FD-6395-4362-B00F-35F255F60E46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0B2545"/>
                </a:solidFill>
              </a:defRPr>
            </a:pPr>
            <a:r>
              <a:rPr sz="1800" b="1" i="0">
                <a:solidFill>
                  <a:srgbClr val="0B2545"/>
                </a:solidFill>
              </a:rPr>
              <a:t>Resultado defendible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480C825-DFF9-40E7-A941-A6FDAF94AFC5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B50A6C8-02DE-452E-A80C-0D2E67761C2D}"/>
              </a:ext>
            </a:extLst>
          </p:cNvPr>
          <p:cNvSpPr>
            <a:spLocks noGrp="1"/>
          </p:cNvSpPr>
          <p:nvPr/>
        </p:nvSpPr>
        <p:spPr>
          <a:xfrm>
            <a:off x="1085850" y="50673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Se evita función sobre columna.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3DC771-797C-44AD-A908-BFC474A0F7EC}"/>
              </a:ext>
            </a:extLst>
          </p:cNvPr>
          <p:cNvSpPr>
            <a:spLocks noGrp="1"/>
          </p:cNvSpPr>
          <p:nvPr/>
        </p:nvSpPr>
        <p:spPr>
          <a:xfrm>
            <a:off x="800100" y="54673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1B88383-BFFA-4FA5-AABF-93265A620E85}"/>
              </a:ext>
            </a:extLst>
          </p:cNvPr>
          <p:cNvSpPr>
            <a:spLocks noGrp="1"/>
          </p:cNvSpPr>
          <p:nvPr/>
        </p:nvSpPr>
        <p:spPr>
          <a:xfrm>
            <a:off x="1085850" y="54673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Bajan lecturas lógicas.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F6C5A17-CDF3-4D96-A02E-97E28F6622DA}"/>
              </a:ext>
            </a:extLst>
          </p:cNvPr>
          <p:cNvSpPr>
            <a:spLocks noGrp="1"/>
          </p:cNvSpPr>
          <p:nvPr/>
        </p:nvSpPr>
        <p:spPr>
          <a:xfrm>
            <a:off x="800100" y="58674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FF6B35"/>
                </a:solidFill>
              </a:defRPr>
            </a:pPr>
            <a:r>
              <a:rPr sz="1425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75DDF54-CF74-49E3-9186-C0F6D6F493E2}"/>
              </a:ext>
            </a:extLst>
          </p:cNvPr>
          <p:cNvSpPr>
            <a:spLocks noGrp="1"/>
          </p:cNvSpPr>
          <p:nvPr/>
        </p:nvSpPr>
        <p:spPr>
          <a:xfrm>
            <a:off x="1085850" y="58674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La mejora se evidencia con STATISTICS IO/TIME.</a:t>
            </a:r>
          </a:p>
        </p:txBody>
      </p:sp>
    </p:spTree>
    <p:extLst>
      <p:ext uri="{BB962C8B-B14F-4D97-AF65-F5344CB8AC3E}">
        <p14:creationId xmlns:p14="http://schemas.microsoft.com/office/powerpoint/2010/main" val="87502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2950C27-AECE-4C41-BF99-F1A6DF13429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18BAF2-8449-4E4E-8D38-A1D34665EE1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63EB0D-4E3A-41B7-AF7A-422AD2F9E240}"/>
              </a:ext>
            </a:extLst>
          </p:cNvPr>
          <p:cNvSpPr>
            <a:spLocks noGrp="1"/>
          </p:cNvSpPr>
          <p:nvPr/>
        </p:nvSpPr>
        <p:spPr>
          <a:xfrm>
            <a:off x="276679" y="6794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Índices y monitoreo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703612-FF74-4F55-B79B-FD0A8A5E421C}"/>
              </a:ext>
            </a:extLst>
          </p:cNvPr>
          <p:cNvSpPr>
            <a:spLocks noGrp="1"/>
          </p:cNvSpPr>
          <p:nvPr/>
        </p:nvSpPr>
        <p:spPr>
          <a:xfrm>
            <a:off x="276679" y="1277257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La optimización no se queda en teoría: se verifica con metadatos y Query Store.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3F328E-2FCB-44AA-B6AC-CF30CF92BB5D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Paolo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5959" y="1774986"/>
            <a:ext cx="3468907" cy="465999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13130" y="1683657"/>
            <a:ext cx="4978820" cy="468176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35B75C7-600F-49E4-A964-DA3B58495E78}"/>
              </a:ext>
            </a:extLst>
          </p:cNvPr>
          <p:cNvSpPr>
            <a:spLocks noGrp="1"/>
          </p:cNvSpPr>
          <p:nvPr/>
        </p:nvSpPr>
        <p:spPr>
          <a:xfrm>
            <a:off x="8321222" y="6415314"/>
            <a:ext cx="3927929" cy="4435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>
                <a:solidFill>
                  <a:srgbClr val="555555"/>
                </a:solidFill>
              </a:rPr>
              <a:t>Índices sobre Pedidos + Query Store en estado READ_WRITE.</a:t>
            </a:r>
          </a:p>
        </p:txBody>
      </p:sp>
    </p:spTree>
    <p:extLst>
      <p:ext uri="{BB962C8B-B14F-4D97-AF65-F5344CB8AC3E}">
        <p14:creationId xmlns:p14="http://schemas.microsoft.com/office/powerpoint/2010/main" val="188413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72F103F-5BC6-4EE7-8279-02BEB1AAF07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A205AD-225C-4AD2-B9ED-66825FBD989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EEE7286-104D-40B6-B7CC-6C56EE728E4A}"/>
              </a:ext>
            </a:extLst>
          </p:cNvPr>
          <p:cNvSpPr>
            <a:spLocks noGrp="1"/>
          </p:cNvSpPr>
          <p:nvPr/>
        </p:nvSpPr>
        <p:spPr>
          <a:xfrm>
            <a:off x="400050" y="788307"/>
            <a:ext cx="9310914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4000" b="1" i="0" dirty="0" err="1">
                <a:solidFill>
                  <a:srgbClr val="111111"/>
                </a:solidFill>
              </a:rPr>
              <a:t>Seguridad</a:t>
            </a:r>
            <a:r>
              <a:rPr sz="4000" b="1" i="0" dirty="0">
                <a:solidFill>
                  <a:srgbClr val="111111"/>
                </a:solidFill>
              </a:rPr>
              <a:t> </a:t>
            </a:r>
            <a:r>
              <a:rPr sz="4000" b="1" i="0" dirty="0" err="1">
                <a:solidFill>
                  <a:srgbClr val="111111"/>
                </a:solidFill>
              </a:rPr>
              <a:t>aplicada</a:t>
            </a:r>
            <a:endParaRPr lang="es-ES" sz="4000" b="1" i="0">
              <a:solidFill>
                <a:srgbClr val="11111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548E3E-F54A-46F4-A33E-4CAE28A62F1B}"/>
              </a:ext>
            </a:extLst>
          </p:cNvPr>
          <p:cNvSpPr>
            <a:spLocks noGrp="1"/>
          </p:cNvSpPr>
          <p:nvPr/>
        </p:nvSpPr>
        <p:spPr>
          <a:xfrm>
            <a:off x="400050" y="1712686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Roles, permisos, datos sensibles, RLS y auditoría.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7B5BFA-6EFA-4C1D-BC7C-029EBD9422E4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Daniel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FC9917-74C2-491A-89B4-00B555473C74}"/>
              </a:ext>
            </a:extLst>
          </p:cNvPr>
          <p:cNvSpPr>
            <a:spLocks noGrp="1"/>
          </p:cNvSpPr>
          <p:nvPr/>
        </p:nvSpPr>
        <p:spPr>
          <a:xfrm>
            <a:off x="5791201" y="2201636"/>
            <a:ext cx="4762500" cy="32385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4D6D35-B856-4014-9B00-84EE6D3A163E}"/>
              </a:ext>
            </a:extLst>
          </p:cNvPr>
          <p:cNvSpPr>
            <a:spLocks noGrp="1"/>
          </p:cNvSpPr>
          <p:nvPr/>
        </p:nvSpPr>
        <p:spPr>
          <a:xfrm>
            <a:off x="6086021" y="2743200"/>
            <a:ext cx="5101771" cy="30625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CREATE ROLE rol_analista_bi;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DENY SELECT ON dbo.Clientes(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numero_documento, correo, telefono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) TO rol_analista_bi;</a:t>
            </a:r>
          </a:p>
          <a:p>
            <a:endParaRPr sz="1275" b="0" i="0">
              <a:solidFill>
                <a:srgbClr val="F4F4F4"/>
              </a:solidFill>
            </a:endParaRP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CREATE SECURITY POLICY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Seguridad.Politica_Clientes_PorRegion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ADD FILTER PREDICATE ...</a:t>
            </a:r>
          </a:p>
        </p:txBody>
      </p:sp>
    </p:spTree>
    <p:extLst>
      <p:ext uri="{BB962C8B-B14F-4D97-AF65-F5344CB8AC3E}">
        <p14:creationId xmlns:p14="http://schemas.microsoft.com/office/powerpoint/2010/main" val="110612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A2188336-88F4-3202-A80F-11A144CA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" b="-222"/>
          <a:stretch>
            <a:fillRect/>
          </a:stretch>
        </p:blipFill>
        <p:spPr>
          <a:xfrm>
            <a:off x="763814" y="232908"/>
            <a:ext cx="4568338" cy="6384953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44565F2D-3553-7EC0-D815-CF6213D742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5"/>
          <a:stretch>
            <a:fillRect/>
          </a:stretch>
        </p:blipFill>
        <p:spPr>
          <a:xfrm>
            <a:off x="5698445" y="237671"/>
            <a:ext cx="5011510" cy="638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4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87AA8D45-3CB1-DF27-9CCC-CB03D3F3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347"/>
          <a:stretch>
            <a:fillRect/>
          </a:stretch>
        </p:blipFill>
        <p:spPr>
          <a:xfrm>
            <a:off x="7346044" y="1723344"/>
            <a:ext cx="4706257" cy="4833763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111BB3F5-D5AB-2BAA-692E-798229EA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2" b="481"/>
          <a:stretch>
            <a:fillRect/>
          </a:stretch>
        </p:blipFill>
        <p:spPr>
          <a:xfrm>
            <a:off x="388939" y="269650"/>
            <a:ext cx="6820337" cy="387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5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EEF4458-A27E-463D-8A17-1C7287F1B42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46BD0D-2D3E-4DB9-B403-CFCFA752EEB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6560AC-6512-49AA-BE44-ECFC36A82357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MongoDB: eventos digitales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8F7A88-FC03-46F6-95C2-5C88C9FF3C28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Se usa NoSQL porque los eventos tienen estructura flexible y anidada.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AEA80A-10CE-412F-9F02-7C2F2B565A55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Puma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967BD6-7AB3-43DB-97A2-5BEF3310D11A}"/>
              </a:ext>
            </a:extLst>
          </p:cNvPr>
          <p:cNvSpPr>
            <a:spLocks noGrp="1"/>
          </p:cNvSpPr>
          <p:nvPr/>
        </p:nvSpPr>
        <p:spPr>
          <a:xfrm>
            <a:off x="116114" y="1978479"/>
            <a:ext cx="2952750" cy="2974521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D5FD53-5177-4B1A-A27C-89C0C1420BEB}"/>
              </a:ext>
            </a:extLst>
          </p:cNvPr>
          <p:cNvSpPr>
            <a:spLocks noGrp="1"/>
          </p:cNvSpPr>
          <p:nvPr/>
        </p:nvSpPr>
        <p:spPr>
          <a:xfrm>
            <a:off x="287564" y="2171700"/>
            <a:ext cx="2776765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{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session_id: "SES-000001",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tipo_evento: "vista_producto",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campania_id: "CMP002",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dispositivo: { tipo: "movil" },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ubicacion: { region: "Lima" },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carrito: { items: [...] },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metadatos: { experimento: "A/B" }</a:t>
            </a:r>
          </a:p>
          <a:p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}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46551" y="1976460"/>
            <a:ext cx="7939312" cy="442091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B27FFC2-9D28-467E-B1A3-1E1C2492BE75}"/>
              </a:ext>
            </a:extLst>
          </p:cNvPr>
          <p:cNvSpPr>
            <a:spLocks noGrp="1"/>
          </p:cNvSpPr>
          <p:nvPr/>
        </p:nvSpPr>
        <p:spPr>
          <a:xfrm>
            <a:off x="8855529" y="6613071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>
                <a:solidFill>
                  <a:srgbClr val="555555"/>
                </a:solidFill>
              </a:rPr>
              <a:t>Colección eventos_web con 25K documentos.</a:t>
            </a:r>
          </a:p>
        </p:txBody>
      </p:sp>
    </p:spTree>
    <p:extLst>
      <p:ext uri="{BB962C8B-B14F-4D97-AF65-F5344CB8AC3E}">
        <p14:creationId xmlns:p14="http://schemas.microsoft.com/office/powerpoint/2010/main" val="1136793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42F34E3-1C4A-40C4-8262-D908564EAF4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CD235C-9D71-41C1-8E34-7232C2200A2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8CFA9C-931E-4104-9BBE-E8868B2557D2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MongoDB: agregación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A91622-B300-41E6-9192-5064513629FD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Agrupamos eventos para analizar comportamiento digital.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9FDC81-E79C-4422-B5C4-65513247CF1C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Puma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2800F8C-22AA-4228-B0BC-C62878EA3FC4}"/>
              </a:ext>
            </a:extLst>
          </p:cNvPr>
          <p:cNvSpPr>
            <a:spLocks noGrp="1"/>
          </p:cNvSpPr>
          <p:nvPr/>
        </p:nvSpPr>
        <p:spPr>
          <a:xfrm>
            <a:off x="399143" y="2126796"/>
            <a:ext cx="2647043" cy="2850243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8298D8-AD45-404E-ABE2-73F524C1C6D1}"/>
              </a:ext>
            </a:extLst>
          </p:cNvPr>
          <p:cNvSpPr>
            <a:spLocks noGrp="1"/>
          </p:cNvSpPr>
          <p:nvPr/>
        </p:nvSpPr>
        <p:spPr>
          <a:xfrm>
            <a:off x="490764" y="2465161"/>
            <a:ext cx="2555422" cy="2514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Stage 1: $group</a:t>
            </a: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{</a:t>
            </a: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  _id: "$</a:t>
            </a:r>
            <a:r>
              <a:rPr sz="1500" b="0" i="0" dirty="0" err="1">
                <a:solidFill>
                  <a:srgbClr val="F4F4F4"/>
                </a:solidFill>
              </a:rPr>
              <a:t>tipo_evento</a:t>
            </a:r>
            <a:r>
              <a:rPr sz="1500" b="0" i="0" dirty="0">
                <a:solidFill>
                  <a:srgbClr val="F4F4F4"/>
                </a:solidFill>
              </a:rPr>
              <a:t>",</a:t>
            </a: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  </a:t>
            </a:r>
            <a:r>
              <a:rPr sz="1500" b="0" i="0" dirty="0" err="1">
                <a:solidFill>
                  <a:srgbClr val="F4F4F4"/>
                </a:solidFill>
              </a:rPr>
              <a:t>cantidad_eventos</a:t>
            </a:r>
            <a:r>
              <a:rPr sz="1500" b="0" i="0" dirty="0">
                <a:solidFill>
                  <a:srgbClr val="F4F4F4"/>
                </a:solidFill>
              </a:rPr>
              <a:t>: { $sum: 1 }</a:t>
            </a: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}</a:t>
            </a:r>
          </a:p>
          <a:p>
            <a:endParaRPr sz="1500" b="0" i="0" dirty="0">
              <a:solidFill>
                <a:srgbClr val="F4F4F4"/>
              </a:solidFill>
            </a:endParaRP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Stage 2: $sort</a:t>
            </a:r>
          </a:p>
          <a:p>
            <a:pPr algn="l">
              <a:defRPr sz="1500" b="0" i="0">
                <a:solidFill>
                  <a:srgbClr val="F4F4F4"/>
                </a:solidFill>
              </a:defRPr>
            </a:pPr>
            <a:r>
              <a:rPr sz="1500" b="0" i="0" dirty="0">
                <a:solidFill>
                  <a:srgbClr val="F4F4F4"/>
                </a:solidFill>
              </a:rPr>
              <a:t>{ </a:t>
            </a:r>
            <a:r>
              <a:rPr sz="1500" b="0" i="0" dirty="0" err="1">
                <a:solidFill>
                  <a:srgbClr val="F4F4F4"/>
                </a:solidFill>
              </a:rPr>
              <a:t>cantidad_eventos</a:t>
            </a:r>
            <a:r>
              <a:rPr sz="1500" b="0" i="0" dirty="0">
                <a:solidFill>
                  <a:srgbClr val="F4F4F4"/>
                </a:solidFill>
              </a:rPr>
              <a:t>: -1 }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09505" y="1959987"/>
            <a:ext cx="8834339" cy="434556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923A6AA-C39B-4C7E-9F35-3C7741DE2EE1}"/>
              </a:ext>
            </a:extLst>
          </p:cNvPr>
          <p:cNvSpPr>
            <a:spLocks noGrp="1"/>
          </p:cNvSpPr>
          <p:nvPr/>
        </p:nvSpPr>
        <p:spPr>
          <a:xfrm>
            <a:off x="8402864" y="648335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>
                <a:solidFill>
                  <a:srgbClr val="555555"/>
                </a:solidFill>
              </a:rPr>
              <a:t>Cada tipo de evento queda resumido en 5000 registros.</a:t>
            </a:r>
          </a:p>
        </p:txBody>
      </p:sp>
    </p:spTree>
    <p:extLst>
      <p:ext uri="{BB962C8B-B14F-4D97-AF65-F5344CB8AC3E}">
        <p14:creationId xmlns:p14="http://schemas.microsoft.com/office/powerpoint/2010/main" val="394190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5D62FC-07D4-49CD-9938-696AC022386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DC3D9-CD9E-4930-AB19-DD4ED0F176D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F3F981-5977-433E-9963-F8A10A062DEF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Data Warehouse dimensional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5FFD88-F74A-4B13-83A7-D42B382A28A3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El DWH transforma operaciones en análisis.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78A29F-56F4-430C-A0DB-889545243940}"/>
              </a:ext>
            </a:extLst>
          </p:cNvPr>
          <p:cNvSpPr>
            <a:spLocks noGrp="1"/>
          </p:cNvSpPr>
          <p:nvPr/>
        </p:nvSpPr>
        <p:spPr>
          <a:xfrm>
            <a:off x="8778421" y="270329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Chambi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3B01FF-0752-41AA-A97A-3CD25AA05E69}"/>
              </a:ext>
            </a:extLst>
          </p:cNvPr>
          <p:cNvSpPr>
            <a:spLocks noGrp="1"/>
          </p:cNvSpPr>
          <p:nvPr/>
        </p:nvSpPr>
        <p:spPr>
          <a:xfrm>
            <a:off x="406401" y="1962150"/>
            <a:ext cx="2640693" cy="3502479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A11897-8383-4908-AF45-CA9CD6919B8B}"/>
              </a:ext>
            </a:extLst>
          </p:cNvPr>
          <p:cNvSpPr>
            <a:spLocks noGrp="1"/>
          </p:cNvSpPr>
          <p:nvPr/>
        </p:nvSpPr>
        <p:spPr>
          <a:xfrm>
            <a:off x="585107" y="2256971"/>
            <a:ext cx="2428422" cy="24774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CREATE TABLE dbo.HechoVentas (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fecha_key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cliente_key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producto_key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tienda_key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campania_key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cantidad INT,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venta_bruta DECIMAL(14,2),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descuento DECIMAL(14,2),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costo DECIMAL(14,2),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  margen AS (...)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>
                <a:solidFill>
                  <a:srgbClr val="F4F4F4"/>
                </a:solidFill>
              </a:rPr>
              <a:t>);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6187" y="1960335"/>
            <a:ext cx="4040075" cy="4642757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06126" y="1964417"/>
            <a:ext cx="4391056" cy="351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88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A2A5C049-A81E-46E4-A3A5-AB50E96EEE22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495E5D-DE90-4F3F-B8E1-2A1649308AE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E22617-9462-483B-BE9A-594D1D8F329F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ETL multi-fuente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518655-ABDD-4D08-9419-D1B87A9F24CA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Integra SQL Server, MongoDB y CSV hacia el DWH.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73591E-12DB-4461-BC05-9E4805E07E11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Chambi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5C0CD3-3DD5-488F-9926-CCF6F2A9D734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190750" cy="1143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B380A0-D160-4D47-B282-3910518A09BF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SQL Server OLTP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D99BE2-F7A5-4EB2-95FE-1838E241B4A6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ventas, clientes, productos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E32B8E4-EE24-4462-A394-CDA304B5ED97}"/>
              </a:ext>
            </a:extLst>
          </p:cNvPr>
          <p:cNvSpPr>
            <a:spLocks noGrp="1"/>
          </p:cNvSpPr>
          <p:nvPr/>
        </p:nvSpPr>
        <p:spPr>
          <a:xfrm>
            <a:off x="3524250" y="2190750"/>
            <a:ext cx="2190750" cy="1143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DC2ECF-939B-4D0B-A73D-181DED58E282}"/>
              </a:ext>
            </a:extLst>
          </p:cNvPr>
          <p:cNvSpPr>
            <a:spLocks noGrp="1"/>
          </p:cNvSpPr>
          <p:nvPr/>
        </p:nvSpPr>
        <p:spPr>
          <a:xfrm>
            <a:off x="3695700" y="240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MongoDB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C36D2D-0718-454B-8514-9844E22522B2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eventos_web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8741735-AB4D-4A6C-B6A7-747010B15665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2190750" cy="1143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0A9C30-E859-4F27-8178-3D7B868723E6}"/>
              </a:ext>
            </a:extLst>
          </p:cNvPr>
          <p:cNvSpPr>
            <a:spLocks noGrp="1"/>
          </p:cNvSpPr>
          <p:nvPr/>
        </p:nvSpPr>
        <p:spPr>
          <a:xfrm>
            <a:off x="6457950" y="240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0B2545"/>
                </a:solidFill>
              </a:defRPr>
            </a:pPr>
            <a:r>
              <a:rPr sz="1575" b="1" i="0">
                <a:solidFill>
                  <a:srgbClr val="0B2545"/>
                </a:solidFill>
              </a:rPr>
              <a:t>CSV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44F7D56-45BF-4A2D-86E8-C9EE3A00C813}"/>
              </a:ext>
            </a:extLst>
          </p:cNvPr>
          <p:cNvSpPr>
            <a:spLocks noGrp="1"/>
          </p:cNvSpPr>
          <p:nvPr/>
        </p:nvSpPr>
        <p:spPr>
          <a:xfrm>
            <a:off x="6457950" y="28003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campañas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1BAB5BE-F2C9-4F35-AB40-939FC0776A4C}"/>
              </a:ext>
            </a:extLst>
          </p:cNvPr>
          <p:cNvSpPr>
            <a:spLocks noGrp="1"/>
          </p:cNvSpPr>
          <p:nvPr/>
        </p:nvSpPr>
        <p:spPr>
          <a:xfrm>
            <a:off x="9048750" y="2190750"/>
            <a:ext cx="2190750" cy="1143000"/>
          </a:xfrm>
          <a:prstGeom prst="rect">
            <a:avLst/>
          </a:prstGeom>
          <a:solidFill>
            <a:srgbClr val="FFF2E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D53A3CA-33FD-4494-8180-691D531E79D2}"/>
              </a:ext>
            </a:extLst>
          </p:cNvPr>
          <p:cNvSpPr>
            <a:spLocks noGrp="1"/>
          </p:cNvSpPr>
          <p:nvPr/>
        </p:nvSpPr>
        <p:spPr>
          <a:xfrm>
            <a:off x="9220200" y="240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F6B35"/>
                </a:solidFill>
              </a:defRPr>
            </a:pPr>
            <a:r>
              <a:rPr sz="1575" b="1" i="0">
                <a:solidFill>
                  <a:srgbClr val="FF6B35"/>
                </a:solidFill>
              </a:rPr>
              <a:t>DWH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C14D6A5-5A48-4A45-93E4-AFB5E285B51B}"/>
              </a:ext>
            </a:extLst>
          </p:cNvPr>
          <p:cNvSpPr>
            <a:spLocks noGrp="1"/>
          </p:cNvSpPr>
          <p:nvPr/>
        </p:nvSpPr>
        <p:spPr>
          <a:xfrm>
            <a:off x="9220200" y="28003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HechoVentas + HechoEventosDigitalesDiarios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D222441-7761-4AD7-AAE5-29C43BF67B1F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9906000" cy="12382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A45C8B8-5DFD-42EA-BEB6-7824D660BDF7}"/>
              </a:ext>
            </a:extLst>
          </p:cNvPr>
          <p:cNvSpPr>
            <a:spLocks noGrp="1"/>
          </p:cNvSpPr>
          <p:nvPr/>
        </p:nvSpPr>
        <p:spPr>
          <a:xfrm>
            <a:off x="1276350" y="4171950"/>
            <a:ext cx="9563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F4F4F4"/>
                </a:solidFill>
              </a:defRPr>
            </a:pPr>
            <a:r>
              <a:rPr sz="1425" b="0" i="0">
                <a:solidFill>
                  <a:srgbClr val="F4F4F4"/>
                </a:solidFill>
              </a:rPr>
              <a:t>coleccion = mongo.retailnova_nosql.eventos_web</a:t>
            </a:r>
          </a:p>
          <a:p>
            <a:pPr algn="l">
              <a:defRPr sz="1425" b="0" i="0">
                <a:solidFill>
                  <a:srgbClr val="F4F4F4"/>
                </a:solidFill>
              </a:defRPr>
            </a:pPr>
            <a:r>
              <a:rPr sz="1425" b="0" i="0">
                <a:solidFill>
                  <a:srgbClr val="F4F4F4"/>
                </a:solidFill>
              </a:rPr>
              <a:t>campanias = pd.read_csv(RUTA_CSV)</a:t>
            </a:r>
          </a:p>
          <a:p>
            <a:endParaRPr sz="1425" b="0" i="0">
              <a:solidFill>
                <a:srgbClr val="F4F4F4"/>
              </a:solidFill>
            </a:endParaRPr>
          </a:p>
          <a:p>
            <a:pPr algn="l">
              <a:defRPr sz="1425" b="0" i="0">
                <a:solidFill>
                  <a:srgbClr val="F4F4F4"/>
                </a:solidFill>
              </a:defRPr>
            </a:pPr>
            <a:r>
              <a:rPr sz="1425" b="0" i="0">
                <a:solidFill>
                  <a:srgbClr val="F4F4F4"/>
                </a:solidFill>
              </a:rPr>
              <a:t>INSERT INTO RetailNova_DWH.dbo.HechoEventosDigitalesDiarios (...)</a:t>
            </a:r>
          </a:p>
        </p:txBody>
      </p:sp>
    </p:spTree>
    <p:extLst>
      <p:ext uri="{BB962C8B-B14F-4D97-AF65-F5344CB8AC3E}">
        <p14:creationId xmlns:p14="http://schemas.microsoft.com/office/powerpoint/2010/main" val="826116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CFA88D6-FB88-45C5-BE0E-D29133BEBEBD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266DD4-0854-408B-836E-F777CEDE479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DF71FF-7178-439E-9F48-2D65490A03ED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DWH listo para BI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083726A-E9C6-4829-8BDD-8FCBA84B850E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Vista agregada, eventos integrados e índice columnstore.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A0F4D6-0970-43C3-BB4A-8B145BC9F586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Chambi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1685" y="1958521"/>
            <a:ext cx="3794458" cy="410119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04607" y="1942496"/>
            <a:ext cx="3907971" cy="3407527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9556" y="1951264"/>
            <a:ext cx="3700367" cy="378913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91D15EE-99E7-4BEF-B26E-EB3F6278C7E8}"/>
              </a:ext>
            </a:extLst>
          </p:cNvPr>
          <p:cNvSpPr>
            <a:spLocks noGrp="1"/>
          </p:cNvSpPr>
          <p:nvPr/>
        </p:nvSpPr>
        <p:spPr>
          <a:xfrm>
            <a:off x="1307646" y="6351814"/>
            <a:ext cx="962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0B2545"/>
                </a:solidFill>
              </a:defRPr>
            </a:pPr>
            <a:r>
              <a:rPr sz="1800" b="1" i="0">
                <a:solidFill>
                  <a:srgbClr val="0B2545"/>
                </a:solidFill>
              </a:rPr>
              <a:t>Mensaje clave: el DWH ya une ventas transaccionales y eventos digitales para consumo analítico.</a:t>
            </a:r>
          </a:p>
        </p:txBody>
      </p:sp>
    </p:spTree>
    <p:extLst>
      <p:ext uri="{BB962C8B-B14F-4D97-AF65-F5344CB8AC3E}">
        <p14:creationId xmlns:p14="http://schemas.microsoft.com/office/powerpoint/2010/main" val="375498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D36D0A7-AEE2-4DE8-9189-394EF865786E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6B9996-08AF-4504-8ADA-8B736D0C05F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67D0118-444E-450E-8C38-81765A64AB68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Power BI: medidas DAX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EAD6F7-22FC-4E89-AD7B-D36A6871C18D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Las medidas convierten hechos en indicadores ejecutivos.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548030-3EC7-483C-B507-46C6FAB503A0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Chambi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BC8C79-85B8-4D36-A7A7-084EE5ED9466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6191250" cy="3429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4F02CB6-044B-4DEE-8B19-D1FAAE579CBD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8483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Ventas </a:t>
            </a:r>
            <a:r>
              <a:rPr sz="1275" b="0" i="0" dirty="0" err="1">
                <a:solidFill>
                  <a:srgbClr val="F4F4F4"/>
                </a:solidFill>
              </a:rPr>
              <a:t>Brutas</a:t>
            </a:r>
            <a:r>
              <a:rPr sz="1275" b="0" i="0" dirty="0">
                <a:solidFill>
                  <a:srgbClr val="F4F4F4"/>
                </a:solidFill>
              </a:rPr>
              <a:t> = SUM(</a:t>
            </a:r>
            <a:r>
              <a:rPr sz="1275" b="0" i="0" dirty="0" err="1">
                <a:solidFill>
                  <a:srgbClr val="F4F4F4"/>
                </a:solidFill>
              </a:rPr>
              <a:t>HechoVentas</a:t>
            </a:r>
            <a:r>
              <a:rPr sz="1275" b="0" i="0" dirty="0">
                <a:solidFill>
                  <a:srgbClr val="F4F4F4"/>
                </a:solidFill>
              </a:rPr>
              <a:t>[</a:t>
            </a:r>
            <a:r>
              <a:rPr sz="1275" b="0" i="0" dirty="0" err="1">
                <a:solidFill>
                  <a:srgbClr val="F4F4F4"/>
                </a:solidFill>
              </a:rPr>
              <a:t>venta_bruta</a:t>
            </a:r>
            <a:r>
              <a:rPr sz="1275" b="0" i="0" dirty="0">
                <a:solidFill>
                  <a:srgbClr val="F4F4F4"/>
                </a:solidFill>
              </a:rPr>
              <a:t>])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 err="1">
                <a:solidFill>
                  <a:srgbClr val="F4F4F4"/>
                </a:solidFill>
              </a:rPr>
              <a:t>Descuentos</a:t>
            </a:r>
            <a:r>
              <a:rPr sz="1275" b="0" i="0" dirty="0">
                <a:solidFill>
                  <a:srgbClr val="F4F4F4"/>
                </a:solidFill>
              </a:rPr>
              <a:t> = SUM(</a:t>
            </a:r>
            <a:r>
              <a:rPr sz="1275" b="0" i="0" dirty="0" err="1">
                <a:solidFill>
                  <a:srgbClr val="F4F4F4"/>
                </a:solidFill>
              </a:rPr>
              <a:t>HechoVentas</a:t>
            </a:r>
            <a:r>
              <a:rPr sz="1275" b="0" i="0" dirty="0">
                <a:solidFill>
                  <a:srgbClr val="F4F4F4"/>
                </a:solidFill>
              </a:rPr>
              <a:t>[</a:t>
            </a:r>
            <a:r>
              <a:rPr sz="1275" b="0" i="0" dirty="0" err="1">
                <a:solidFill>
                  <a:srgbClr val="F4F4F4"/>
                </a:solidFill>
              </a:rPr>
              <a:t>descuento</a:t>
            </a:r>
            <a:r>
              <a:rPr sz="1275" b="0" i="0" dirty="0">
                <a:solidFill>
                  <a:srgbClr val="F4F4F4"/>
                </a:solidFill>
              </a:rPr>
              <a:t>])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Ventas Netas = [Ventas </a:t>
            </a:r>
            <a:r>
              <a:rPr sz="1275" b="0" i="0" dirty="0" err="1">
                <a:solidFill>
                  <a:srgbClr val="F4F4F4"/>
                </a:solidFill>
              </a:rPr>
              <a:t>Brutas</a:t>
            </a:r>
            <a:r>
              <a:rPr sz="1275" b="0" i="0" dirty="0">
                <a:solidFill>
                  <a:srgbClr val="F4F4F4"/>
                </a:solidFill>
              </a:rPr>
              <a:t>] - [</a:t>
            </a:r>
            <a:r>
              <a:rPr sz="1275" b="0" i="0" dirty="0" err="1">
                <a:solidFill>
                  <a:srgbClr val="F4F4F4"/>
                </a:solidFill>
              </a:rPr>
              <a:t>Descuentos</a:t>
            </a:r>
            <a:r>
              <a:rPr sz="1275" b="0" i="0" dirty="0">
                <a:solidFill>
                  <a:srgbClr val="F4F4F4"/>
                </a:solidFill>
              </a:rPr>
              <a:t>]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Costo = SUM(</a:t>
            </a:r>
            <a:r>
              <a:rPr sz="1275" b="0" i="0" dirty="0" err="1">
                <a:solidFill>
                  <a:srgbClr val="F4F4F4"/>
                </a:solidFill>
              </a:rPr>
              <a:t>HechoVentas</a:t>
            </a:r>
            <a:r>
              <a:rPr sz="1275" b="0" i="0" dirty="0">
                <a:solidFill>
                  <a:srgbClr val="F4F4F4"/>
                </a:solidFill>
              </a:rPr>
              <a:t>[</a:t>
            </a:r>
            <a:r>
              <a:rPr sz="1275" b="0" i="0" dirty="0" err="1">
                <a:solidFill>
                  <a:srgbClr val="F4F4F4"/>
                </a:solidFill>
              </a:rPr>
              <a:t>costo</a:t>
            </a:r>
            <a:r>
              <a:rPr sz="1275" b="0" i="0" dirty="0">
                <a:solidFill>
                  <a:srgbClr val="F4F4F4"/>
                </a:solidFill>
              </a:rPr>
              <a:t>])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 err="1">
                <a:solidFill>
                  <a:srgbClr val="F4F4F4"/>
                </a:solidFill>
              </a:rPr>
              <a:t>Margen</a:t>
            </a:r>
            <a:r>
              <a:rPr sz="1275" b="0" i="0" dirty="0">
                <a:solidFill>
                  <a:srgbClr val="F4F4F4"/>
                </a:solidFill>
              </a:rPr>
              <a:t> = [Ventas Netas] - [Costo]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% </a:t>
            </a:r>
            <a:r>
              <a:rPr sz="1275" b="0" i="0" dirty="0" err="1">
                <a:solidFill>
                  <a:srgbClr val="F4F4F4"/>
                </a:solidFill>
              </a:rPr>
              <a:t>Margen</a:t>
            </a:r>
            <a:r>
              <a:rPr sz="1275" b="0" i="0" dirty="0">
                <a:solidFill>
                  <a:srgbClr val="F4F4F4"/>
                </a:solidFill>
              </a:rPr>
              <a:t> = DIVIDE([</a:t>
            </a:r>
            <a:r>
              <a:rPr sz="1275" b="0" i="0" dirty="0" err="1">
                <a:solidFill>
                  <a:srgbClr val="F4F4F4"/>
                </a:solidFill>
              </a:rPr>
              <a:t>Margen</a:t>
            </a:r>
            <a:r>
              <a:rPr sz="1275" b="0" i="0" dirty="0">
                <a:solidFill>
                  <a:srgbClr val="F4F4F4"/>
                </a:solidFill>
              </a:rPr>
              <a:t>], [Ventas Netas])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Ticket </a:t>
            </a:r>
            <a:r>
              <a:rPr sz="1275" b="0" i="0" dirty="0" err="1">
                <a:solidFill>
                  <a:srgbClr val="F4F4F4"/>
                </a:solidFill>
              </a:rPr>
              <a:t>Promedio</a:t>
            </a:r>
            <a:r>
              <a:rPr sz="1275" b="0" i="0" dirty="0">
                <a:solidFill>
                  <a:srgbClr val="F4F4F4"/>
                </a:solidFill>
              </a:rPr>
              <a:t> =</a:t>
            </a:r>
          </a:p>
          <a:p>
            <a:pPr algn="l">
              <a:defRPr sz="1275" b="0" i="0">
                <a:solidFill>
                  <a:srgbClr val="F4F4F4"/>
                </a:solidFill>
              </a:defRPr>
            </a:pPr>
            <a:r>
              <a:rPr sz="1275" b="0" i="0" dirty="0">
                <a:solidFill>
                  <a:srgbClr val="F4F4F4"/>
                </a:solidFill>
              </a:rPr>
              <a:t>  DIVIDE([Ventas Netas], DISTINCTCOUNT(</a:t>
            </a:r>
            <a:r>
              <a:rPr sz="1275" b="0" i="0" dirty="0" err="1">
                <a:solidFill>
                  <a:srgbClr val="F4F4F4"/>
                </a:solidFill>
              </a:rPr>
              <a:t>HechoVentas</a:t>
            </a:r>
            <a:r>
              <a:rPr sz="1275" b="0" i="0" dirty="0">
                <a:solidFill>
                  <a:srgbClr val="F4F4F4"/>
                </a:solidFill>
              </a:rPr>
              <a:t>[</a:t>
            </a:r>
            <a:r>
              <a:rPr sz="1275" b="0" i="0" dirty="0" err="1">
                <a:solidFill>
                  <a:srgbClr val="F4F4F4"/>
                </a:solidFill>
              </a:rPr>
              <a:t>pedido_id</a:t>
            </a:r>
            <a:r>
              <a:rPr sz="1275" b="0" i="0" dirty="0">
                <a:solidFill>
                  <a:srgbClr val="F4F4F4"/>
                </a:solidFill>
              </a:rPr>
              <a:t>]))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25" y="2029842"/>
            <a:ext cx="3714750" cy="251256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C2CB61A-17D8-4497-AF12-42B2AF98E30F}"/>
              </a:ext>
            </a:extLst>
          </p:cNvPr>
          <p:cNvSpPr>
            <a:spLocks noGrp="1"/>
          </p:cNvSpPr>
          <p:nvPr/>
        </p:nvSpPr>
        <p:spPr>
          <a:xfrm>
            <a:off x="7286625" y="531495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1">
                <a:solidFill>
                  <a:srgbClr val="555555"/>
                </a:solidFill>
              </a:defRPr>
            </a:pPr>
            <a:r>
              <a:rPr sz="1050" b="0" i="1" dirty="0">
                <a:solidFill>
                  <a:srgbClr val="555555"/>
                </a:solidFill>
              </a:rPr>
              <a:t>KPIs: </a:t>
            </a:r>
            <a:r>
              <a:rPr sz="1050" b="0" i="1" dirty="0" err="1">
                <a:solidFill>
                  <a:srgbClr val="555555"/>
                </a:solidFill>
              </a:rPr>
              <a:t>ventas</a:t>
            </a:r>
            <a:r>
              <a:rPr sz="1050" b="0" i="1" dirty="0">
                <a:solidFill>
                  <a:srgbClr val="555555"/>
                </a:solidFill>
              </a:rPr>
              <a:t> </a:t>
            </a:r>
            <a:r>
              <a:rPr sz="1050" b="0" i="1" dirty="0" err="1">
                <a:solidFill>
                  <a:srgbClr val="555555"/>
                </a:solidFill>
              </a:rPr>
              <a:t>netas</a:t>
            </a:r>
            <a:r>
              <a:rPr sz="1050" b="0" i="1" dirty="0">
                <a:solidFill>
                  <a:srgbClr val="555555"/>
                </a:solidFill>
              </a:rPr>
              <a:t>, </a:t>
            </a:r>
            <a:r>
              <a:rPr sz="1050" b="0" i="1" dirty="0" err="1">
                <a:solidFill>
                  <a:srgbClr val="555555"/>
                </a:solidFill>
              </a:rPr>
              <a:t>margen</a:t>
            </a:r>
            <a:r>
              <a:rPr sz="1050" b="0" i="1" dirty="0">
                <a:solidFill>
                  <a:srgbClr val="555555"/>
                </a:solidFill>
              </a:rPr>
              <a:t>, ticket </a:t>
            </a:r>
            <a:r>
              <a:rPr sz="1050" b="0" i="1" dirty="0" err="1">
                <a:solidFill>
                  <a:srgbClr val="555555"/>
                </a:solidFill>
              </a:rPr>
              <a:t>promedio</a:t>
            </a:r>
            <a:r>
              <a:rPr sz="1050" b="0" i="1" dirty="0">
                <a:solidFill>
                  <a:srgbClr val="555555"/>
                </a:solidFill>
              </a:rPr>
              <a:t> y </a:t>
            </a:r>
            <a:r>
              <a:rPr sz="1050" b="0" i="1" dirty="0" err="1">
                <a:solidFill>
                  <a:srgbClr val="555555"/>
                </a:solidFill>
              </a:rPr>
              <a:t>unidades</a:t>
            </a:r>
            <a:r>
              <a:rPr sz="1050" b="0" i="1" dirty="0">
                <a:solidFill>
                  <a:srgbClr val="5555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2144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49F47-72E8-4F99-9060-D3C674C0F929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343D946-CF9C-4D1E-B82C-E2438467806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D0C4883-16A5-4AE1-883E-0F7ACF3E5F05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Dashboard final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9D1629-B05C-4B4C-8640-92BE8FC419AC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Ventas, margen, eventos digitales y filtros en una sola vista.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980B20-58E1-4F6E-8EEB-DBAAF9DF626F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David Chambi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6307" y="1957614"/>
            <a:ext cx="8360258" cy="47625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D81247C-347B-4AB2-994A-6107F67952C6}"/>
              </a:ext>
            </a:extLst>
          </p:cNvPr>
          <p:cNvSpPr>
            <a:spLocks noGrp="1"/>
          </p:cNvSpPr>
          <p:nvPr/>
        </p:nvSpPr>
        <p:spPr>
          <a:xfrm>
            <a:off x="6097814" y="1217386"/>
            <a:ext cx="142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 i="0">
                <a:solidFill>
                  <a:srgbClr val="FF6B35"/>
                </a:solidFill>
              </a:defRPr>
            </a:pPr>
            <a:r>
              <a:rPr sz="1950" b="1" i="0">
                <a:solidFill>
                  <a:srgbClr val="FF6B35"/>
                </a:solidFill>
              </a:rPr>
              <a:t>Evidencia Power BI</a:t>
            </a:r>
          </a:p>
        </p:txBody>
      </p:sp>
    </p:spTree>
    <p:extLst>
      <p:ext uri="{BB962C8B-B14F-4D97-AF65-F5344CB8AC3E}">
        <p14:creationId xmlns:p14="http://schemas.microsoft.com/office/powerpoint/2010/main" val="150112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3347A0CC-56DE-4CAD-AF9B-9EC983FBFA4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DataFuture | RetailNova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6762CF-C442-4B5F-BCDA-86F1F028A15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17C212-EA1D-482B-83C6-D0075963C52B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Impacto estratégico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41B44FF-AA19-4CD2-8201-45A2976DEF8B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Qué gana RetailNova con la solución.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8562879-ADFD-4CC6-B7F7-0D0F78FFD4FE}"/>
              </a:ext>
            </a:extLst>
          </p:cNvPr>
          <p:cNvSpPr>
            <a:spLocks noGrp="1"/>
          </p:cNvSpPr>
          <p:nvPr/>
        </p:nvSpPr>
        <p:spPr>
          <a:xfrm>
            <a:off x="8858250" y="800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Expone: Todos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9A7EBD7-0D9C-4406-B671-76B87DE6947A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952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3D794A-A5AE-4223-B4C4-1B95471D0CEA}"/>
              </a:ext>
            </a:extLst>
          </p:cNvPr>
          <p:cNvSpPr>
            <a:spLocks noGrp="1"/>
          </p:cNvSpPr>
          <p:nvPr/>
        </p:nvSpPr>
        <p:spPr>
          <a:xfrm>
            <a:off x="1028700" y="217170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Ventas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9CA18E-58E9-418F-8963-EE74D8D0AB66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categorías y canales más rentables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434520-A581-4487-B820-BC5729836F4E}"/>
              </a:ext>
            </a:extLst>
          </p:cNvPr>
          <p:cNvSpPr>
            <a:spLocks noGrp="1"/>
          </p:cNvSpPr>
          <p:nvPr/>
        </p:nvSpPr>
        <p:spPr>
          <a:xfrm>
            <a:off x="4619625" y="2000250"/>
            <a:ext cx="2952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EEDF7F-09A1-448E-B034-0A56F223A8FF}"/>
              </a:ext>
            </a:extLst>
          </p:cNvPr>
          <p:cNvSpPr>
            <a:spLocks noGrp="1"/>
          </p:cNvSpPr>
          <p:nvPr/>
        </p:nvSpPr>
        <p:spPr>
          <a:xfrm>
            <a:off x="4791075" y="217170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Marketing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AEB1F91-6523-4B9A-9DF8-861B281BFA5D}"/>
              </a:ext>
            </a:extLst>
          </p:cNvPr>
          <p:cNvSpPr>
            <a:spLocks noGrp="1"/>
          </p:cNvSpPr>
          <p:nvPr/>
        </p:nvSpPr>
        <p:spPr>
          <a:xfrm>
            <a:off x="4791075" y="26479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campañas conectadas con ventas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EAF923-94D2-40F1-B207-98C5EFB930F4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2952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4245DE8-317F-4621-A6CE-F516762D7076}"/>
              </a:ext>
            </a:extLst>
          </p:cNvPr>
          <p:cNvSpPr>
            <a:spLocks noGrp="1"/>
          </p:cNvSpPr>
          <p:nvPr/>
        </p:nvSpPr>
        <p:spPr>
          <a:xfrm>
            <a:off x="8553450" y="2171700"/>
            <a:ext cx="260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Operación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5530F7D-CB20-4163-B257-9E48AA10EC3C}"/>
              </a:ext>
            </a:extLst>
          </p:cNvPr>
          <p:cNvSpPr>
            <a:spLocks noGrp="1"/>
          </p:cNvSpPr>
          <p:nvPr/>
        </p:nvSpPr>
        <p:spPr>
          <a:xfrm>
            <a:off x="8553450" y="264795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inventario y demanda observables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A5410E-B0D6-4793-B5D4-21FCE84B5CEF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53BFE6B-95A0-4BCA-95BE-227CDDA1F4B0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La empresa deja de mirar datos aislados.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58223D-AB09-4707-9E0B-7E981DF7B196}"/>
              </a:ext>
            </a:extLst>
          </p:cNvPr>
          <p:cNvSpPr>
            <a:spLocks noGrp="1"/>
          </p:cNvSpPr>
          <p:nvPr/>
        </p:nvSpPr>
        <p:spPr>
          <a:xfrm>
            <a:off x="1714500" y="46101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9C3D2FF-7890-4FF2-9B81-13FBDDF9241D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El equipo puede defender decisiones con evidencia.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41F12B7-993D-41BB-871F-7AF98231ADD1}"/>
              </a:ext>
            </a:extLst>
          </p:cNvPr>
          <p:cNvSpPr>
            <a:spLocks noGrp="1"/>
          </p:cNvSpPr>
          <p:nvPr/>
        </p:nvSpPr>
        <p:spPr>
          <a:xfrm>
            <a:off x="1714500" y="51244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4E94705-64DA-47CB-97C6-28F24D76780F}"/>
              </a:ext>
            </a:extLst>
          </p:cNvPr>
          <p:cNvSpPr>
            <a:spLocks noGrp="1"/>
          </p:cNvSpPr>
          <p:nvPr/>
        </p:nvSpPr>
        <p:spPr>
          <a:xfrm>
            <a:off x="2000250" y="512445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La arquitectura queda lista para nube, gobierno de datos e IA.</a:t>
            </a:r>
          </a:p>
        </p:txBody>
      </p:sp>
    </p:spTree>
    <p:extLst>
      <p:ext uri="{BB962C8B-B14F-4D97-AF65-F5344CB8AC3E}">
        <p14:creationId xmlns:p14="http://schemas.microsoft.com/office/powerpoint/2010/main" val="8242823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Office PowerPoint</Application>
  <PresentationFormat>Panorámica</PresentationFormat>
  <Paragraphs>218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Romario</cp:lastModifiedBy>
  <cp:revision>56</cp:revision>
  <dcterms:created xsi:type="dcterms:W3CDTF">2026-06-29T00:21:54Z</dcterms:created>
  <dcterms:modified xsi:type="dcterms:W3CDTF">2026-06-30T17:57:20Z</dcterms:modified>
</cp:coreProperties>
</file>